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5.jp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.jp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titl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841248" y="932688"/>
            <a:ext cx="126187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hool_logo.jpe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992" y="1078992"/>
            <a:ext cx="738378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41248" y="212140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SEKU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41248" y="2560320"/>
            <a:ext cx="6126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 Administration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Verification System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41248" y="37947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Digital Exam Card Generation and Real-Time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 Attendance Verification Platform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41248" y="461772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Robert Muendo | Daniel Nzioka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School of Science and Computing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41248" y="53949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Supervisor: Prof. Selpher Cheloti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841250" y="5833877"/>
            <a:ext cx="2011800" cy="5487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896101" y="5925291"/>
            <a:ext cx="181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Innovation Challenge Prototype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7342631" y="1161288"/>
            <a:ext cx="2148840" cy="46177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269480" y="1051560"/>
            <a:ext cx="2148840" cy="46177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7370064" y="1152144"/>
            <a:ext cx="1947672" cy="4416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2-student-dashboard.jpeg" id="97" name="Google Shape;9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7985" y="1179576"/>
            <a:ext cx="2011828" cy="436168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8087868" y="1106424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537192" y="1618488"/>
            <a:ext cx="2148840" cy="46177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9464040" y="1508760"/>
            <a:ext cx="2148840" cy="46177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9564624" y="1609344"/>
            <a:ext cx="1947672" cy="4416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0-verification-result.jpeg" id="102" name="Google Shape;10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32544" y="1636776"/>
            <a:ext cx="2011828" cy="43616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/>
          <p:nvPr/>
        </p:nvSpPr>
        <p:spPr>
          <a:xfrm>
            <a:off x="10282428" y="1563624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opening case is exam integrity, missing marks, and policy enforcement under pressure.</a:t>
            </a:r>
            <a:endParaRPr/>
          </a:p>
        </p:txBody>
      </p:sp>
      <p:pic>
        <p:nvPicPr>
          <p:cNvPr descr="school_logo.jpe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67575" y="1874525"/>
            <a:ext cx="2880300" cy="2400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024128" y="2084831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Current Reality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87550" y="2395725"/>
            <a:ext cx="2487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Manual exam card checks create congestion at venues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Attendance records remain paper-heavy and hard to reconcile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Policy enforcement becomes inconsistent during high-volume sessions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663100" y="4386662"/>
            <a:ext cx="2880300" cy="1920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914325" y="4506075"/>
            <a:ext cx="248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The Consequence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731650" y="4809750"/>
            <a:ext cx="2743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Wasted examination time and </a:t>
            </a:r>
            <a:r>
              <a:rPr lang="en-US" sz="1200">
                <a:solidFill>
                  <a:srgbClr val="1A2428"/>
                </a:solidFill>
              </a:rPr>
              <a:t>tedious card signing process.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Weak audit trails behind missing-marks disputes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High post-exam reconciliation workload for staff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3977639" y="1828800"/>
            <a:ext cx="7315200" cy="3611880"/>
          </a:xfrm>
          <a:prstGeom prst="roundRect">
            <a:avLst>
              <a:gd fmla="val 16667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315968" y="213969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Problem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4315968" y="2514600"/>
            <a:ext cx="6309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primary objective is to eliminate or significantly reduce the pervasive problem of missing marks across universities. EVAS also enforces lecturer evaluation as a mandatory eligibility criterion, closing the feedback loop for quality assurance before an exam card is issued.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4315968" y="4828032"/>
            <a:ext cx="1645920" cy="347472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315968" y="491032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Congestion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693408" y="4462272"/>
            <a:ext cx="1645920" cy="347472"/>
          </a:xfrm>
          <a:prstGeom prst="roundRect">
            <a:avLst>
              <a:gd fmla="val 16667" name="adj"/>
            </a:avLst>
          </a:prstGeom>
          <a:solidFill>
            <a:srgbClr val="D94B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693408" y="454456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Missing Marks</a:t>
            </a: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6382512" y="4919472"/>
            <a:ext cx="2148840" cy="347472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6382512" y="5001768"/>
            <a:ext cx="21488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Weak Traceability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9436608" y="4773168"/>
            <a:ext cx="1645920" cy="347472"/>
          </a:xfrm>
          <a:prstGeom prst="roundRect">
            <a:avLst>
              <a:gd fmla="val 16667" name="adj"/>
            </a:avLst>
          </a:prstGeom>
          <a:solidFill>
            <a:srgbClr val="C8A2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 txBox="1"/>
          <p:nvPr/>
        </p:nvSpPr>
        <p:spPr>
          <a:xfrm>
            <a:off x="9436608" y="4855464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Compliance Gap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prototype proves an end-to-end exam administration workflow, not a standalone scanner.</a:t>
            </a:r>
            <a:endParaRPr/>
          </a:p>
        </p:txBody>
      </p:sp>
      <p:pic>
        <p:nvPicPr>
          <p:cNvPr descr="school_logo.jpe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841248" y="1874519"/>
            <a:ext cx="329184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987552" y="2011679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987552" y="2093976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600200" y="2002525"/>
            <a:ext cx="235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Automate eligibility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verification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841248" y="2770632"/>
            <a:ext cx="329184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987552" y="2907791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987552" y="2990087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600200" y="2898650"/>
            <a:ext cx="235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Generate secure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digital exam cards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841248" y="3666744"/>
            <a:ext cx="329184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987552" y="3803904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987552" y="3886200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1521150" y="3794750"/>
            <a:ext cx="251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Streamline invigilator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841248" y="4562856"/>
            <a:ext cx="3291840" cy="74980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987552" y="4700016"/>
            <a:ext cx="384048" cy="38404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987552" y="4782312"/>
            <a:ext cx="384048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1518000" y="4646525"/>
            <a:ext cx="251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Generate formal PDF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attendance reports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4572000" y="1828800"/>
            <a:ext cx="6766560" cy="3977639"/>
          </a:xfrm>
          <a:prstGeom prst="roundRect">
            <a:avLst>
              <a:gd fmla="val 16667" name="adj"/>
            </a:avLst>
          </a:prstGeom>
          <a:solidFill>
            <a:srgbClr val="EAF9F7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4864608" y="212140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Unique Value Proposition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864608" y="2514600"/>
            <a:ext cx="5898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EVAS is not just a barcode scan-and-check tool. It unifies who is allowed to sit an exam, how the student proves eligibility, how the invigilator confirms access, and how the institution produces auditable records afterward.</a:t>
            </a:r>
            <a:endParaRPr sz="1800"/>
          </a:p>
        </p:txBody>
      </p:sp>
      <p:sp>
        <p:nvSpPr>
          <p:cNvPr id="166" name="Google Shape;166;p15"/>
          <p:cNvSpPr txBox="1"/>
          <p:nvPr/>
        </p:nvSpPr>
        <p:spPr>
          <a:xfrm>
            <a:off x="4892040" y="416052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Mandatory lecturer evaluation completion before exam card generation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Session-aware invigilator verification tied to the active unit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Digital attendance evidence that reduces missing-marks disputes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171" name="Google Shape;1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Users and System Architecture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platform serves students, invigilators, examinations administrators, and institutional support offices.</a:t>
            </a:r>
            <a:endParaRPr/>
          </a:p>
        </p:txBody>
      </p:sp>
      <p:pic>
        <p:nvPicPr>
          <p:cNvPr descr="school_logo.jpeg" id="176" name="Google Shape;17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804672" y="1874519"/>
            <a:ext cx="33832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770825" y="1993400"/>
            <a:ext cx="156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Students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2254450" y="1958200"/>
            <a:ext cx="1860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View eligibility, complete evaluations, generate exam card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804672" y="2624327"/>
            <a:ext cx="33832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770850" y="2743200"/>
            <a:ext cx="156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Invigilators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2254456" y="2798056"/>
            <a:ext cx="178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Scan and verify students, record digital attendance</a:t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804672" y="3374135"/>
            <a:ext cx="33832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770750" y="3493000"/>
            <a:ext cx="1645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Examinations Office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2208399" y="3487925"/>
            <a:ext cx="1952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Access auditable attendance and PDF reports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804672" y="4123944"/>
            <a:ext cx="33832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770900" y="4242825"/>
            <a:ext cx="156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ICT Directorate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2208399" y="4237725"/>
            <a:ext cx="1952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Manage deployment, security, and maintenance</a:t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804672" y="4873752"/>
            <a:ext cx="338328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 txBox="1"/>
          <p:nvPr/>
        </p:nvSpPr>
        <p:spPr>
          <a:xfrm>
            <a:off x="770826" y="4992625"/>
            <a:ext cx="156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Finance Office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2254519" y="5013468"/>
            <a:ext cx="178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Enforce fee-clearance rules consistently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4617720" y="1965960"/>
            <a:ext cx="2057400" cy="896112"/>
          </a:xfrm>
          <a:prstGeom prst="roundRect">
            <a:avLst>
              <a:gd fmla="val 16667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4617720" y="2240280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App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4617720" y="3794760"/>
            <a:ext cx="2057400" cy="896112"/>
          </a:xfrm>
          <a:prstGeom prst="roundRect">
            <a:avLst>
              <a:gd fmla="val 16667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4617720" y="4069080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App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7360920" y="2788920"/>
            <a:ext cx="2148840" cy="100584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7360920" y="3090672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Node.js +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Express API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10149840" y="1920240"/>
            <a:ext cx="1645920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10149840" y="2212848"/>
            <a:ext cx="16459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10149840" y="3794760"/>
            <a:ext cx="1645920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10149840" y="40233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PDF Engine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+ Reports</a:t>
            </a:r>
            <a:endParaRPr/>
          </a:p>
        </p:txBody>
      </p:sp>
      <p:cxnSp>
        <p:nvCxnSpPr>
          <p:cNvPr id="205" name="Google Shape;205;p16"/>
          <p:cNvCxnSpPr/>
          <p:nvPr/>
        </p:nvCxnSpPr>
        <p:spPr>
          <a:xfrm>
            <a:off x="6675120" y="2414016"/>
            <a:ext cx="685800" cy="832104"/>
          </a:xfrm>
          <a:prstGeom prst="straightConnector1">
            <a:avLst/>
          </a:prstGeom>
          <a:noFill/>
          <a:ln cap="flat" cmpd="sng" w="19050">
            <a:solidFill>
              <a:srgbClr val="1A2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6" name="Google Shape;206;p16"/>
          <p:cNvCxnSpPr/>
          <p:nvPr/>
        </p:nvCxnSpPr>
        <p:spPr>
          <a:xfrm flipH="1" rot="10800000">
            <a:off x="6675120" y="3337560"/>
            <a:ext cx="685800" cy="905256"/>
          </a:xfrm>
          <a:prstGeom prst="straightConnector1">
            <a:avLst/>
          </a:prstGeom>
          <a:noFill/>
          <a:ln cap="flat" cmpd="sng" w="19050">
            <a:solidFill>
              <a:srgbClr val="1A2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7" name="Google Shape;207;p16"/>
          <p:cNvCxnSpPr/>
          <p:nvPr/>
        </p:nvCxnSpPr>
        <p:spPr>
          <a:xfrm flipH="1" rot="10800000">
            <a:off x="9509760" y="2359152"/>
            <a:ext cx="640080" cy="886968"/>
          </a:xfrm>
          <a:prstGeom prst="straightConnector1">
            <a:avLst/>
          </a:prstGeom>
          <a:noFill/>
          <a:ln cap="flat" cmpd="sng" w="19050">
            <a:solidFill>
              <a:srgbClr val="1A2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08" name="Google Shape;208;p16"/>
          <p:cNvCxnSpPr/>
          <p:nvPr/>
        </p:nvCxnSpPr>
        <p:spPr>
          <a:xfrm>
            <a:off x="9509760" y="3337560"/>
            <a:ext cx="640080" cy="905256"/>
          </a:xfrm>
          <a:prstGeom prst="straightConnector1">
            <a:avLst/>
          </a:prstGeom>
          <a:noFill/>
          <a:ln cap="flat" cmpd="sng" w="19050">
            <a:solidFill>
              <a:srgbClr val="1A24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Student Workflow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Exam access is earned through policy compliance before exam day arrives.</a:t>
            </a:r>
            <a:endParaRPr/>
          </a:p>
        </p:txBody>
      </p:sp>
      <p:pic>
        <p:nvPicPr>
          <p:cNvPr descr="school_logo.jpeg" id="218" name="Google Shape;2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7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868680" y="2331720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1014983" y="2487168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1014983" y="256946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14983" y="30175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1014983" y="3401568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Secure student authentication</a:t>
            </a:r>
            <a:endParaRPr/>
          </a:p>
        </p:txBody>
      </p:sp>
      <p:cxnSp>
        <p:nvCxnSpPr>
          <p:cNvPr id="227" name="Google Shape;227;p17"/>
          <p:cNvCxnSpPr/>
          <p:nvPr/>
        </p:nvCxnSpPr>
        <p:spPr>
          <a:xfrm>
            <a:off x="2926080" y="32735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8" name="Google Shape;228;p17"/>
          <p:cNvSpPr/>
          <p:nvPr/>
        </p:nvSpPr>
        <p:spPr>
          <a:xfrm>
            <a:off x="3108960" y="2331720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3255264" y="2487168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3255264" y="256946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3255264" y="30175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3255264" y="3401568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Real-time eligibility overview</a:t>
            </a:r>
            <a:endParaRPr/>
          </a:p>
        </p:txBody>
      </p:sp>
      <p:cxnSp>
        <p:nvCxnSpPr>
          <p:cNvPr id="233" name="Google Shape;233;p17"/>
          <p:cNvCxnSpPr/>
          <p:nvPr/>
        </p:nvCxnSpPr>
        <p:spPr>
          <a:xfrm>
            <a:off x="5166360" y="32735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4" name="Google Shape;234;p17"/>
          <p:cNvSpPr/>
          <p:nvPr/>
        </p:nvSpPr>
        <p:spPr>
          <a:xfrm>
            <a:off x="5349240" y="2331720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495544" y="2487168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5495544" y="256946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5495544" y="30175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Evaluations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5495544" y="3401568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Mandatory lecturer feedback per unit</a:t>
            </a:r>
            <a:endParaRPr/>
          </a:p>
        </p:txBody>
      </p:sp>
      <p:cxnSp>
        <p:nvCxnSpPr>
          <p:cNvPr id="239" name="Google Shape;239;p17"/>
          <p:cNvCxnSpPr/>
          <p:nvPr/>
        </p:nvCxnSpPr>
        <p:spPr>
          <a:xfrm>
            <a:off x="7406640" y="32735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0" name="Google Shape;240;p17"/>
          <p:cNvSpPr/>
          <p:nvPr/>
        </p:nvSpPr>
        <p:spPr>
          <a:xfrm>
            <a:off x="7589520" y="2331720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7735824" y="2487168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7735824" y="256946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7735824" y="30175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/>
          </a:p>
        </p:txBody>
      </p:sp>
      <p:sp>
        <p:nvSpPr>
          <p:cNvPr id="244" name="Google Shape;244;p17"/>
          <p:cNvSpPr txBox="1"/>
          <p:nvPr/>
        </p:nvSpPr>
        <p:spPr>
          <a:xfrm>
            <a:off x="7735824" y="3401568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Weekly class participation record</a:t>
            </a:r>
            <a:endParaRPr/>
          </a:p>
        </p:txBody>
      </p:sp>
      <p:cxnSp>
        <p:nvCxnSpPr>
          <p:cNvPr id="245" name="Google Shape;245;p17"/>
          <p:cNvCxnSpPr/>
          <p:nvPr/>
        </p:nvCxnSpPr>
        <p:spPr>
          <a:xfrm>
            <a:off x="9646920" y="3273552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0071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17"/>
          <p:cNvSpPr/>
          <p:nvPr/>
        </p:nvSpPr>
        <p:spPr>
          <a:xfrm>
            <a:off x="9829800" y="2331720"/>
            <a:ext cx="205740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9976104" y="2487168"/>
            <a:ext cx="365760" cy="36576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9976104" y="2569464"/>
            <a:ext cx="365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49" name="Google Shape;249;p17"/>
          <p:cNvSpPr txBox="1"/>
          <p:nvPr/>
        </p:nvSpPr>
        <p:spPr>
          <a:xfrm>
            <a:off x="9976104" y="301752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Exam Card</a:t>
            </a:r>
            <a:endParaRPr/>
          </a:p>
        </p:txBody>
      </p:sp>
      <p:sp>
        <p:nvSpPr>
          <p:cNvPr id="250" name="Google Shape;250;p17"/>
          <p:cNvSpPr txBox="1"/>
          <p:nvPr/>
        </p:nvSpPr>
        <p:spPr>
          <a:xfrm>
            <a:off x="9976104" y="3401568"/>
            <a:ext cx="17190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Generate secure digital card when eligible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1417320" y="4892040"/>
            <a:ext cx="9326880" cy="47548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1554475" y="5029200"/>
            <a:ext cx="9052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workflow removes manual discretion at the venue and replaces it with rule-based eligibility.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257" name="Google Shape;2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Student Login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Students authenticate into the academic compliance workflow from a dedicated interface.</a:t>
            </a:r>
            <a:endParaRPr/>
          </a:p>
        </p:txBody>
      </p:sp>
      <p:pic>
        <p:nvPicPr>
          <p:cNvPr descr="school_logo.jpeg" id="262" name="Google Shape;2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8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822960" y="1874519"/>
            <a:ext cx="4480500" cy="4297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Role separation keeps student access distinct from the invigilator interface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Students sign in using their registered credentials before any protected action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login screen is the controlled entry point to eligibility, evaluations, and exam-card services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1051550" y="5230378"/>
            <a:ext cx="3886200" cy="6618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 authentication gates access to the rest of the student module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1-student-login.jpeg" id="274" name="Google Shape;2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11275" y="1934975"/>
            <a:ext cx="2593424" cy="46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8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280" name="Google Shape;2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Eligibility Dashboard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dashboard gives the student an instant explanation of whether exam-card generation is allowed.</a:t>
            </a:r>
            <a:endParaRPr/>
          </a:p>
        </p:txBody>
      </p:sp>
      <p:pic>
        <p:nvPicPr>
          <p:cNvPr descr="school_logo.jpeg" id="285" name="Google Shape;2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9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Attendance, fee balance, evaluations, and unit registration are summarized in one place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interface makes it clear whether the student is eligible or which rule is still blocking them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reduces confusion and removes guesswork before the examination period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6629400" y="5230377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 txBox="1"/>
          <p:nvPr/>
        </p:nvSpPr>
        <p:spPr>
          <a:xfrm>
            <a:off x="672084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dashboard becomes the student’s single source of eligibility truth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914400" y="1737360"/>
            <a:ext cx="2880300" cy="507480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841248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941832" y="1728216"/>
            <a:ext cx="2679300" cy="4873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2-student-dashboard.jpeg" id="297" name="Google Shape;2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75" y="1874525"/>
            <a:ext cx="2624324" cy="472745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9"/>
          <p:cNvSpPr/>
          <p:nvPr/>
        </p:nvSpPr>
        <p:spPr>
          <a:xfrm>
            <a:off x="2025395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303" name="Google Shape;3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Lecturer Evaluations Dashboard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Evaluation tracking is tied directly to the student’s registered units.</a:t>
            </a:r>
            <a:endParaRPr/>
          </a:p>
        </p:txBody>
      </p:sp>
      <p:pic>
        <p:nvPicPr>
          <p:cNvPr descr="school_logo.jpeg" id="308" name="Google Shape;3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page shows required evaluations and completed evaluations per student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Students can see which units still need feedback before exam-card generation becomes available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workflow adapts when units are not yet registered, preventing false completion states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1051550" y="5230377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Evaluation progress is visible before the student submits each lecturer form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3-lecturer-evaluations.jpeg" id="320" name="Google Shape;3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0375" y="1874525"/>
            <a:ext cx="2624324" cy="4828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0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326" name="Google Shape;3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Lecturer Evaluation Form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Each lecturer is evaluated through a structured, mandatory form for the active unit.</a:t>
            </a:r>
            <a:endParaRPr/>
          </a:p>
        </p:txBody>
      </p:sp>
      <p:pic>
        <p:nvPicPr>
          <p:cNvPr descr="school_logo.jpeg" id="331" name="Google Shape;3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1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Every field is required so the evaluation is complete and auditable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form operates one lecturer and one unit at a time to avoid mixed responses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After submission, the state resets so the next lecturer evaluation starts cleanly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6629400" y="5230378"/>
            <a:ext cx="3886200" cy="6693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672084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Per-unit lecturer feedback is captured in a controlled submission flow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914400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1"/>
          <p:cNvSpPr/>
          <p:nvPr/>
        </p:nvSpPr>
        <p:spPr>
          <a:xfrm>
            <a:off x="841250" y="1737350"/>
            <a:ext cx="2880300" cy="496530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1"/>
          <p:cNvSpPr/>
          <p:nvPr/>
        </p:nvSpPr>
        <p:spPr>
          <a:xfrm>
            <a:off x="941832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4-lecturer-evaluation-form.jpeg" id="343" name="Google Shape;34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75" y="1874525"/>
            <a:ext cx="2624324" cy="470914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/>
          <p:nvPr/>
        </p:nvSpPr>
        <p:spPr>
          <a:xfrm>
            <a:off x="2025395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349" name="Google Shape;3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2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Attendance Register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Attendance is recorded against scheduled classes and converted into a visible weekly matrix.</a:t>
            </a:r>
            <a:endParaRPr/>
          </a:p>
        </p:txBody>
      </p:sp>
      <p:pic>
        <p:nvPicPr>
          <p:cNvPr descr="school_logo.jpeg" id="354" name="Google Shape;3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360" name="Google Shape;360;p22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Students sign only when the valid class session window has opened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Missed sessions are marked explicitly, improving transparency for attendance percentages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stored record supports the 70% attendance rule used during exam-card eligibility checks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1051550" y="5230377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Weekly class attendance feeds directly into exam eligibility enforcement</a:t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5-attendance-tab.jpeg" id="366" name="Google Shape;3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0375" y="1737350"/>
            <a:ext cx="2624324" cy="4873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2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372" name="Google Shape;3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Exam Cards List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Generated cards are managed from a dedicated tab rather than being mixed into the main dashboard.</a:t>
            </a:r>
            <a:endParaRPr/>
          </a:p>
        </p:txBody>
      </p:sp>
      <p:pic>
        <p:nvPicPr>
          <p:cNvPr descr="school_logo.jpeg" id="377" name="Google Shape;37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3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80" name="Google Shape;380;p23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Students can review their active card records without leaving the app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page supports refresh and lifecycle actions after a card has been generated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Keeping cards in a dedicated tab improves clarity during demonstrations and real use</a:t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6629400" y="5230378"/>
            <a:ext cx="3886200" cy="6837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3"/>
          <p:cNvSpPr txBox="1"/>
          <p:nvPr/>
        </p:nvSpPr>
        <p:spPr>
          <a:xfrm>
            <a:off x="672084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management is isolated into a focused exam-card workspace</a:t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914400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841248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941832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6-exam-cards.jpeg" id="389" name="Google Shape;38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75" y="1682500"/>
            <a:ext cx="2624324" cy="481439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3"/>
          <p:cNvSpPr/>
          <p:nvPr/>
        </p:nvSpPr>
        <p:spPr>
          <a:xfrm>
            <a:off x="2025395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395" name="Google Shape;3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4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Exam Card Preview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Students can inspect the generated card visually before exporting or sharing it.</a:t>
            </a:r>
            <a:endParaRPr/>
          </a:p>
        </p:txBody>
      </p:sp>
      <p:pic>
        <p:nvPicPr>
          <p:cNvPr descr="school_logo.jpeg" id="400" name="Google Shape;4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4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preview confirms that barcode, serial number, and student identity details are correct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It supports in-app confidence checks before the document is printed or shared externally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reduces mistakes during the final step of preparing for examinations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1051550" y="5230378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 reduces rework before the student distributes the exam card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7-exam-card-preview.jpeg" id="412" name="Google Shape;4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0375" y="1874525"/>
            <a:ext cx="2624324" cy="46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4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418" name="Google Shape;4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5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Module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Printable Exam Card PDF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final exam card output is formatted as a formal printable document for verification at the venue.</a:t>
            </a:r>
            <a:endParaRPr/>
          </a:p>
        </p:txBody>
      </p:sp>
      <p:pic>
        <p:nvPicPr>
          <p:cNvPr descr="school_logo.jpeg" id="423" name="Google Shape;4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5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425" name="Google Shape;425;p25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5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429" name="Google Shape;429;p25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PDF carries university branding, barcode-based verification, and student details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Registered units are embedded directly into the printable output for exam-day reference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document is suitable for download, printing, and subsequent scanning by invigilators</a:t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6629400" y="5230368"/>
            <a:ext cx="3886200" cy="47548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"/>
          <p:cNvSpPr txBox="1"/>
          <p:nvPr/>
        </p:nvSpPr>
        <p:spPr>
          <a:xfrm>
            <a:off x="6720850" y="5239493"/>
            <a:ext cx="370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PDF is the formal exam-day artifact used at the venue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576072" y="1865376"/>
            <a:ext cx="4434840" cy="4526280"/>
          </a:xfrm>
          <a:prstGeom prst="roundRect">
            <a:avLst>
              <a:gd fmla="val 16667" name="adj"/>
            </a:avLst>
          </a:prstGeom>
          <a:solidFill>
            <a:srgbClr val="C9D8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21208" y="1783080"/>
            <a:ext cx="443484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3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-exam-card-pdf.png" id="434" name="Google Shape;4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075" y="1865375"/>
            <a:ext cx="4325099" cy="4128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439" name="Google Shape;4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6"/>
          <p:cNvSpPr/>
          <p:nvPr/>
        </p:nvSpPr>
        <p:spPr>
          <a:xfrm>
            <a:off x="804675" y="713222"/>
            <a:ext cx="1280100" cy="4338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850400" y="749825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Module</a:t>
            </a:r>
            <a:endParaRPr/>
          </a:p>
        </p:txBody>
      </p:sp>
      <p:sp>
        <p:nvSpPr>
          <p:cNvPr id="442" name="Google Shape;442;p26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Invigilator Login</a:t>
            </a:r>
            <a:endParaRPr/>
          </a:p>
        </p:txBody>
      </p:sp>
      <p:sp>
        <p:nvSpPr>
          <p:cNvPr id="443" name="Google Shape;443;p26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Staff access is separated from student access to protect the verification workflow.</a:t>
            </a:r>
            <a:endParaRPr/>
          </a:p>
        </p:txBody>
      </p:sp>
      <p:pic>
        <p:nvPicPr>
          <p:cNvPr descr="school_logo.jpeg" id="444" name="Google Shape;4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6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450" name="Google Shape;450;p26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Invigilators authenticate into a dedicated examination interface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separation reduces accidental crossover into student-only actions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It also provides a cleaner audit trail around who performed verification activities</a:t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1051550" y="5230378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invigilator module starts from its own protected login flow</a:t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8-invigilator-login.jpeg" id="456" name="Google Shape;4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0375" y="1682500"/>
            <a:ext cx="2624324" cy="5020052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462" name="Google Shape;4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7"/>
          <p:cNvSpPr/>
          <p:nvPr/>
        </p:nvSpPr>
        <p:spPr>
          <a:xfrm>
            <a:off x="804675" y="713224"/>
            <a:ext cx="1280100" cy="3657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850400" y="713225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Module</a:t>
            </a:r>
            <a:endParaRPr/>
          </a:p>
        </p:txBody>
      </p:sp>
      <p:sp>
        <p:nvSpPr>
          <p:cNvPr id="465" name="Google Shape;465;p27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Verification Scan Screen</a:t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Before scanning, the invigilator selects the current examination unit and then captures the student card.</a:t>
            </a:r>
            <a:endParaRPr/>
          </a:p>
        </p:txBody>
      </p:sp>
      <p:pic>
        <p:nvPicPr>
          <p:cNvPr descr="school_logo.jpeg" id="467" name="Google Shape;4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7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469" name="Google Shape;469;p27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470" name="Google Shape;470;p27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471" name="Google Shape;471;p27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Verification is session-aware because the scan is tied to the active unit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avoids approving a student for the wrong paper even if the card is valid generally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interface is optimized for fast repetitive use during exam entry</a:t>
            </a:r>
            <a:endParaRPr/>
          </a:p>
        </p:txBody>
      </p:sp>
      <p:sp>
        <p:nvSpPr>
          <p:cNvPr id="474" name="Google Shape;474;p27"/>
          <p:cNvSpPr/>
          <p:nvPr/>
        </p:nvSpPr>
        <p:spPr>
          <a:xfrm>
            <a:off x="6629400" y="5230378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 txBox="1"/>
          <p:nvPr/>
        </p:nvSpPr>
        <p:spPr>
          <a:xfrm>
            <a:off x="672084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Unit-aware scanning is the core of the invigilator workflow</a:t>
            </a:r>
            <a:endParaRPr/>
          </a:p>
        </p:txBody>
      </p:sp>
      <p:sp>
        <p:nvSpPr>
          <p:cNvPr id="476" name="Google Shape;476;p27"/>
          <p:cNvSpPr/>
          <p:nvPr/>
        </p:nvSpPr>
        <p:spPr>
          <a:xfrm>
            <a:off x="914400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/>
          <p:nvPr/>
        </p:nvSpPr>
        <p:spPr>
          <a:xfrm>
            <a:off x="841248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941832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09-scan-screen.jpeg" id="479" name="Google Shape;47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75" y="1874525"/>
            <a:ext cx="2624324" cy="470915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/>
          <p:nvPr/>
        </p:nvSpPr>
        <p:spPr>
          <a:xfrm>
            <a:off x="2025395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485" name="Google Shape;4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8"/>
          <p:cNvSpPr/>
          <p:nvPr/>
        </p:nvSpPr>
        <p:spPr>
          <a:xfrm>
            <a:off x="804675" y="713223"/>
            <a:ext cx="1280100" cy="3840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 txBox="1"/>
          <p:nvPr/>
        </p:nvSpPr>
        <p:spPr>
          <a:xfrm>
            <a:off x="850400" y="713225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Module</a:t>
            </a:r>
            <a:endParaRPr/>
          </a:p>
        </p:txBody>
      </p:sp>
      <p:sp>
        <p:nvSpPr>
          <p:cNvPr id="488" name="Google Shape;488;p28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Verification Result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result screen gives an immediate decision together with the student and unit context.</a:t>
            </a:r>
            <a:endParaRPr/>
          </a:p>
        </p:txBody>
      </p:sp>
      <p:pic>
        <p:nvPicPr>
          <p:cNvPr descr="school_logo.jpeg" id="490" name="Google Shape;49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8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492" name="Google Shape;492;p28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493" name="Google Shape;493;p28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494" name="Google Shape;494;p28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8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496" name="Google Shape;496;p28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invigilator can confirm identity, eligibility status, and unit registration instantly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Successful scans transition directly into attendance capture for that exam session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produces a time-stamped digital trail instead of a purely paper-based signature process</a:t>
            </a:r>
            <a:endParaRPr/>
          </a:p>
        </p:txBody>
      </p:sp>
      <p:sp>
        <p:nvSpPr>
          <p:cNvPr id="497" name="Google Shape;497;p28"/>
          <p:cNvSpPr/>
          <p:nvPr/>
        </p:nvSpPr>
        <p:spPr>
          <a:xfrm>
            <a:off x="1051560" y="5230368"/>
            <a:ext cx="3886200" cy="475488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8"/>
          <p:cNvSpPr txBox="1"/>
          <p:nvPr/>
        </p:nvSpPr>
        <p:spPr>
          <a:xfrm>
            <a:off x="1143000" y="5239495"/>
            <a:ext cx="3703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Instant verification reduces </a:t>
            </a:r>
            <a:r>
              <a:rPr b="1" lang="en-US" sz="1100">
                <a:solidFill>
                  <a:srgbClr val="FFFFFF"/>
                </a:solidFill>
              </a:rPr>
              <a:t>tedious exam card signing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improves confidence at the venue</a:t>
            </a:r>
            <a:endParaRPr/>
          </a:p>
        </p:txBody>
      </p:sp>
      <p:sp>
        <p:nvSpPr>
          <p:cNvPr id="499" name="Google Shape;499;p28"/>
          <p:cNvSpPr/>
          <p:nvPr/>
        </p:nvSpPr>
        <p:spPr>
          <a:xfrm>
            <a:off x="7525512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7452360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8"/>
          <p:cNvSpPr/>
          <p:nvPr/>
        </p:nvSpPr>
        <p:spPr>
          <a:xfrm>
            <a:off x="7552944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0-verification-result.jpeg" id="502" name="Google Shape;50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0375" y="1874525"/>
            <a:ext cx="2624324" cy="4709152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/>
          <p:nvPr/>
        </p:nvSpPr>
        <p:spPr>
          <a:xfrm>
            <a:off x="8636508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508" name="Google Shape;50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9"/>
          <p:cNvSpPr/>
          <p:nvPr/>
        </p:nvSpPr>
        <p:spPr>
          <a:xfrm>
            <a:off x="804675" y="744750"/>
            <a:ext cx="1280100" cy="3840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9"/>
          <p:cNvSpPr txBox="1"/>
          <p:nvPr/>
        </p:nvSpPr>
        <p:spPr>
          <a:xfrm>
            <a:off x="850400" y="744750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Module</a:t>
            </a:r>
            <a:endParaRPr/>
          </a:p>
        </p:txBody>
      </p:sp>
      <p:sp>
        <p:nvSpPr>
          <p:cNvPr id="511" name="Google Shape;511;p29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Reports Dashboard</a:t>
            </a:r>
            <a:endParaRPr/>
          </a:p>
        </p:txBody>
      </p:sp>
      <p:sp>
        <p:nvSpPr>
          <p:cNvPr id="512" name="Google Shape;512;p29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reports page summarizes attendance outcomes and prepares the session for formal export.</a:t>
            </a:r>
            <a:endParaRPr/>
          </a:p>
        </p:txBody>
      </p:sp>
      <p:pic>
        <p:nvPicPr>
          <p:cNvPr descr="school_logo.jpeg" id="513" name="Google Shape;51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29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515" name="Google Shape;515;p29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516" name="Google Shape;516;p29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517" name="Google Shape;517;p29"/>
          <p:cNvSpPr/>
          <p:nvPr/>
        </p:nvSpPr>
        <p:spPr>
          <a:xfrm>
            <a:off x="640080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 txBox="1"/>
          <p:nvPr/>
        </p:nvSpPr>
        <p:spPr>
          <a:xfrm>
            <a:off x="662940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519" name="Google Shape;519;p29"/>
          <p:cNvSpPr txBox="1"/>
          <p:nvPr/>
        </p:nvSpPr>
        <p:spPr>
          <a:xfrm>
            <a:off x="662940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Verified counts, eligibility outcomes, and session records are visible in one place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page helps invigilators confirm what happened before generating the final report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removes much of the manual post-exam reconciliation workload</a:t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6629400" y="5230377"/>
            <a:ext cx="3886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672084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 preparation happens immediately after the scanning session</a:t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914400" y="1737360"/>
            <a:ext cx="2880360" cy="5074920"/>
          </a:xfrm>
          <a:prstGeom prst="roundRect">
            <a:avLst>
              <a:gd fmla="val 16667" name="adj"/>
            </a:avLst>
          </a:prstGeom>
          <a:solidFill>
            <a:srgbClr val="BBC7C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841248" y="1627632"/>
            <a:ext cx="2880360" cy="5074920"/>
          </a:xfrm>
          <a:prstGeom prst="roundRect">
            <a:avLst>
              <a:gd fmla="val 18000" name="adj"/>
            </a:avLst>
          </a:prstGeom>
          <a:solidFill>
            <a:srgbClr val="0F2A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941832" y="1728216"/>
            <a:ext cx="2679191" cy="48737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1-reports-page.jpeg" id="525" name="Google Shape;5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75" y="1874525"/>
            <a:ext cx="2624324" cy="4544573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9"/>
          <p:cNvSpPr/>
          <p:nvPr/>
        </p:nvSpPr>
        <p:spPr>
          <a:xfrm>
            <a:off x="2025395" y="1682496"/>
            <a:ext cx="512064" cy="45720"/>
          </a:xfrm>
          <a:prstGeom prst="roundRect">
            <a:avLst>
              <a:gd fmla="val 16667" name="adj"/>
            </a:avLst>
          </a:prstGeom>
          <a:solidFill>
            <a:srgbClr val="2937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531" name="Google Shape;5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0"/>
          <p:cNvSpPr/>
          <p:nvPr/>
        </p:nvSpPr>
        <p:spPr>
          <a:xfrm>
            <a:off x="804675" y="713225"/>
            <a:ext cx="1280100" cy="4203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850400" y="749825"/>
            <a:ext cx="11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Invigilator Module</a:t>
            </a:r>
            <a:endParaRPr/>
          </a:p>
        </p:txBody>
      </p:sp>
      <p:sp>
        <p:nvSpPr>
          <p:cNvPr id="534" name="Google Shape;534;p30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Demo: Attendance Report PDF</a:t>
            </a:r>
            <a:endParaRPr/>
          </a:p>
        </p:txBody>
      </p:sp>
      <p:sp>
        <p:nvSpPr>
          <p:cNvPr id="535" name="Google Shape;535;p30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Attendance evidence is exported as a formal PDF for office use and audit purposes.</a:t>
            </a:r>
            <a:endParaRPr/>
          </a:p>
        </p:txBody>
      </p:sp>
      <p:pic>
        <p:nvPicPr>
          <p:cNvPr descr="school_logo.jpeg" id="536" name="Google Shape;5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0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538" name="Google Shape;538;p30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540" name="Google Shape;540;p30"/>
          <p:cNvSpPr/>
          <p:nvPr/>
        </p:nvSpPr>
        <p:spPr>
          <a:xfrm>
            <a:off x="822960" y="1874519"/>
            <a:ext cx="448056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1051560" y="21214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What this slide shows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1051560" y="2487168"/>
            <a:ext cx="3931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The report captures institutional branding, active unit context, counts, and timestamped records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It provides a shareable official output for the examinations office and related stakeholders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This directly addresses weak traceability behind missing-marks disputes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1051550" y="5230379"/>
            <a:ext cx="3886200" cy="6771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0"/>
          <p:cNvSpPr txBox="1"/>
          <p:nvPr/>
        </p:nvSpPr>
        <p:spPr>
          <a:xfrm>
            <a:off x="1143000" y="5367528"/>
            <a:ext cx="37033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attendance PDF becomes the formal audit artifact after verification</a:t>
            </a:r>
            <a:endParaRPr/>
          </a:p>
        </p:txBody>
      </p:sp>
      <p:sp>
        <p:nvSpPr>
          <p:cNvPr id="545" name="Google Shape;545;p30"/>
          <p:cNvSpPr/>
          <p:nvPr/>
        </p:nvSpPr>
        <p:spPr>
          <a:xfrm>
            <a:off x="7187184" y="1865376"/>
            <a:ext cx="4434840" cy="4526280"/>
          </a:xfrm>
          <a:prstGeom prst="roundRect">
            <a:avLst>
              <a:gd fmla="val 16667" name="adj"/>
            </a:avLst>
          </a:prstGeom>
          <a:solidFill>
            <a:srgbClr val="C9D8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7132325" y="1188725"/>
            <a:ext cx="4434900" cy="5538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3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3-attendance-report-pdf.png" id="547" name="Google Shape;54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7175" y="2197100"/>
            <a:ext cx="4152526" cy="397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552" name="Google Shape;55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1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1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Readiness</a:t>
            </a:r>
            <a:endParaRPr/>
          </a:p>
        </p:txBody>
      </p:sp>
      <p:sp>
        <p:nvSpPr>
          <p:cNvPr id="555" name="Google Shape;555;p31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Security and Reliability</a:t>
            </a:r>
            <a:endParaRPr/>
          </a:p>
        </p:txBody>
      </p:sp>
      <p:sp>
        <p:nvSpPr>
          <p:cNvPr id="556" name="Google Shape;556;p31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prototype includes concrete controls that make it more credible for pilot deployment.</a:t>
            </a:r>
            <a:endParaRPr/>
          </a:p>
        </p:txBody>
      </p:sp>
      <p:pic>
        <p:nvPicPr>
          <p:cNvPr descr="school_logo.jpeg" id="557" name="Google Shape;5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1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561" name="Google Shape;561;p31"/>
          <p:cNvSpPr/>
          <p:nvPr/>
        </p:nvSpPr>
        <p:spPr>
          <a:xfrm>
            <a:off x="868680" y="1874519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1"/>
          <p:cNvSpPr/>
          <p:nvPr/>
        </p:nvSpPr>
        <p:spPr>
          <a:xfrm>
            <a:off x="1005839" y="20208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 txBox="1"/>
          <p:nvPr/>
        </p:nvSpPr>
        <p:spPr>
          <a:xfrm>
            <a:off x="1399031" y="20025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Route Protection</a:t>
            </a:r>
            <a:endParaRPr/>
          </a:p>
        </p:txBody>
      </p:sp>
      <p:sp>
        <p:nvSpPr>
          <p:cNvPr id="564" name="Google Shape;564;p31"/>
          <p:cNvSpPr txBox="1"/>
          <p:nvPr/>
        </p:nvSpPr>
        <p:spPr>
          <a:xfrm>
            <a:off x="1033271" y="24048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Authenticated access for students, invigilators, and admins</a:t>
            </a:r>
            <a:endParaRPr/>
          </a:p>
        </p:txBody>
      </p:sp>
      <p:sp>
        <p:nvSpPr>
          <p:cNvPr id="565" name="Google Shape;565;p31"/>
          <p:cNvSpPr/>
          <p:nvPr/>
        </p:nvSpPr>
        <p:spPr>
          <a:xfrm>
            <a:off x="4023360" y="1874519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4160520" y="20208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 txBox="1"/>
          <p:nvPr/>
        </p:nvSpPr>
        <p:spPr>
          <a:xfrm>
            <a:off x="4553712" y="20025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Rate Limiting</a:t>
            </a:r>
            <a:endParaRPr/>
          </a:p>
        </p:txBody>
      </p:sp>
      <p:sp>
        <p:nvSpPr>
          <p:cNvPr id="568" name="Google Shape;568;p31"/>
          <p:cNvSpPr txBox="1"/>
          <p:nvPr/>
        </p:nvSpPr>
        <p:spPr>
          <a:xfrm>
            <a:off x="4187952" y="24048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Reduces brute-force attempts and abuse on sensitive endpoints</a:t>
            </a:r>
            <a:endParaRPr/>
          </a:p>
        </p:txBody>
      </p:sp>
      <p:sp>
        <p:nvSpPr>
          <p:cNvPr id="569" name="Google Shape;569;p31"/>
          <p:cNvSpPr/>
          <p:nvPr/>
        </p:nvSpPr>
        <p:spPr>
          <a:xfrm>
            <a:off x="7178040" y="1874519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1"/>
          <p:cNvSpPr/>
          <p:nvPr/>
        </p:nvSpPr>
        <p:spPr>
          <a:xfrm>
            <a:off x="7315200" y="20208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1"/>
          <p:cNvSpPr txBox="1"/>
          <p:nvPr/>
        </p:nvSpPr>
        <p:spPr>
          <a:xfrm>
            <a:off x="7708392" y="200253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Input Validation</a:t>
            </a:r>
            <a:endParaRPr/>
          </a:p>
        </p:txBody>
      </p:sp>
      <p:sp>
        <p:nvSpPr>
          <p:cNvPr id="572" name="Google Shape;572;p31"/>
          <p:cNvSpPr txBox="1"/>
          <p:nvPr/>
        </p:nvSpPr>
        <p:spPr>
          <a:xfrm>
            <a:off x="7342631" y="24048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Rejects malformed payloads before business logic runs</a:t>
            </a:r>
            <a:endParaRPr/>
          </a:p>
        </p:txBody>
      </p:sp>
      <p:sp>
        <p:nvSpPr>
          <p:cNvPr id="573" name="Google Shape;573;p31"/>
          <p:cNvSpPr/>
          <p:nvPr/>
        </p:nvSpPr>
        <p:spPr>
          <a:xfrm>
            <a:off x="868680" y="3931920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1"/>
          <p:cNvSpPr/>
          <p:nvPr/>
        </p:nvSpPr>
        <p:spPr>
          <a:xfrm>
            <a:off x="1005839" y="40782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1"/>
          <p:cNvSpPr txBox="1"/>
          <p:nvPr/>
        </p:nvSpPr>
        <p:spPr>
          <a:xfrm>
            <a:off x="1399031" y="405993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Secure Sessions</a:t>
            </a:r>
            <a:endParaRPr/>
          </a:p>
        </p:txBody>
      </p:sp>
      <p:sp>
        <p:nvSpPr>
          <p:cNvPr id="576" name="Google Shape;576;p31"/>
          <p:cNvSpPr txBox="1"/>
          <p:nvPr/>
        </p:nvSpPr>
        <p:spPr>
          <a:xfrm>
            <a:off x="1033271" y="44622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Improved token handling and refresh flows on mobile</a:t>
            </a:r>
            <a:endParaRPr/>
          </a:p>
        </p:txBody>
      </p:sp>
      <p:sp>
        <p:nvSpPr>
          <p:cNvPr id="577" name="Google Shape;577;p31"/>
          <p:cNvSpPr/>
          <p:nvPr/>
        </p:nvSpPr>
        <p:spPr>
          <a:xfrm>
            <a:off x="4023360" y="3931920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4160520" y="40782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1"/>
          <p:cNvSpPr txBox="1"/>
          <p:nvPr/>
        </p:nvSpPr>
        <p:spPr>
          <a:xfrm>
            <a:off x="4553712" y="405993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Structured Logs</a:t>
            </a:r>
            <a:endParaRPr/>
          </a:p>
        </p:txBody>
      </p:sp>
      <p:sp>
        <p:nvSpPr>
          <p:cNvPr id="580" name="Google Shape;580;p31"/>
          <p:cNvSpPr txBox="1"/>
          <p:nvPr/>
        </p:nvSpPr>
        <p:spPr>
          <a:xfrm>
            <a:off x="4187952" y="44622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Operational traceability for failures and verification activity</a:t>
            </a:r>
            <a:endParaRPr/>
          </a:p>
        </p:txBody>
      </p:sp>
      <p:sp>
        <p:nvSpPr>
          <p:cNvPr id="581" name="Google Shape;581;p31"/>
          <p:cNvSpPr/>
          <p:nvPr/>
        </p:nvSpPr>
        <p:spPr>
          <a:xfrm>
            <a:off x="7178040" y="3931920"/>
            <a:ext cx="269748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7315200" y="4078224"/>
            <a:ext cx="274320" cy="27432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 txBox="1"/>
          <p:nvPr/>
        </p:nvSpPr>
        <p:spPr>
          <a:xfrm>
            <a:off x="7708392" y="4059935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Smoke Tests</a:t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7342631" y="4462272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Core backend endpoints tested across auth, cards, attendance, and reports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ontent.png" id="589" name="Google Shape;5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2"/>
          <p:cNvSpPr/>
          <p:nvPr/>
        </p:nvSpPr>
        <p:spPr>
          <a:xfrm>
            <a:off x="804672" y="713232"/>
            <a:ext cx="1280160" cy="310896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850392" y="786384"/>
            <a:ext cx="1188719" cy="128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/>
          </a:p>
        </p:txBody>
      </p:sp>
      <p:sp>
        <p:nvSpPr>
          <p:cNvPr id="592" name="Google Shape;592;p32"/>
          <p:cNvSpPr txBox="1"/>
          <p:nvPr/>
        </p:nvSpPr>
        <p:spPr>
          <a:xfrm>
            <a:off x="822960" y="107899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Before vs After EVAS</a:t>
            </a:r>
            <a:endParaRPr/>
          </a:p>
        </p:txBody>
      </p:sp>
      <p:sp>
        <p:nvSpPr>
          <p:cNvPr id="593" name="Google Shape;593;p32"/>
          <p:cNvSpPr txBox="1"/>
          <p:nvPr/>
        </p:nvSpPr>
        <p:spPr>
          <a:xfrm>
            <a:off x="822960" y="14447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The value is operational, academic, and administrative.</a:t>
            </a:r>
            <a:endParaRPr/>
          </a:p>
        </p:txBody>
      </p:sp>
      <p:pic>
        <p:nvPicPr>
          <p:cNvPr descr="school_logo.jpeg" id="594" name="Google Shape;59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0" y="502920"/>
            <a:ext cx="641223" cy="603504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2"/>
          <p:cNvSpPr txBox="1"/>
          <p:nvPr/>
        </p:nvSpPr>
        <p:spPr>
          <a:xfrm>
            <a:off x="11109960" y="1024128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713D"/>
                </a:solidFill>
                <a:latin typeface="Arial"/>
                <a:ea typeface="Arial"/>
                <a:cs typeface="Arial"/>
                <a:sym typeface="Arial"/>
              </a:rPr>
              <a:t>EVAS</a:t>
            </a:r>
            <a:endParaRPr/>
          </a:p>
        </p:txBody>
      </p:sp>
      <p:sp>
        <p:nvSpPr>
          <p:cNvPr id="596" name="Google Shape;596;p32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/>
          </a:p>
        </p:txBody>
      </p:sp>
      <p:sp>
        <p:nvSpPr>
          <p:cNvPr id="597" name="Google Shape;597;p32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  <p:sp>
        <p:nvSpPr>
          <p:cNvPr id="598" name="Google Shape;598;p32"/>
          <p:cNvSpPr/>
          <p:nvPr/>
        </p:nvSpPr>
        <p:spPr>
          <a:xfrm>
            <a:off x="868680" y="1874519"/>
            <a:ext cx="51663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2"/>
          <p:cNvSpPr/>
          <p:nvPr/>
        </p:nvSpPr>
        <p:spPr>
          <a:xfrm>
            <a:off x="6172200" y="1874519"/>
            <a:ext cx="5166360" cy="4251960"/>
          </a:xfrm>
          <a:prstGeom prst="roundRect">
            <a:avLst>
              <a:gd fmla="val 16667" name="adj"/>
            </a:avLst>
          </a:prstGeom>
          <a:solidFill>
            <a:srgbClr val="EAF9F7"/>
          </a:solidFill>
          <a:ln cap="flat" cmpd="sng" w="12700">
            <a:solidFill>
              <a:srgbClr val="D6E2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2"/>
          <p:cNvSpPr txBox="1"/>
          <p:nvPr/>
        </p:nvSpPr>
        <p:spPr>
          <a:xfrm>
            <a:off x="1097280" y="2148840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Before EVAS</a:t>
            </a:r>
            <a:endParaRPr/>
          </a:p>
        </p:txBody>
      </p:sp>
      <p:sp>
        <p:nvSpPr>
          <p:cNvPr id="601" name="Google Shape;601;p32"/>
          <p:cNvSpPr txBox="1"/>
          <p:nvPr/>
        </p:nvSpPr>
        <p:spPr>
          <a:xfrm>
            <a:off x="6400800" y="2148840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After EVAS</a:t>
            </a:r>
            <a:endParaRPr/>
          </a:p>
        </p:txBody>
      </p:sp>
      <p:sp>
        <p:nvSpPr>
          <p:cNvPr id="602" name="Google Shape;602;p32"/>
          <p:cNvSpPr txBox="1"/>
          <p:nvPr/>
        </p:nvSpPr>
        <p:spPr>
          <a:xfrm>
            <a:off x="1078992" y="2606040"/>
            <a:ext cx="4526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Slow manual verification at exam venues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Paper attendance sheets prone to disputes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Weak enforcement of lecturer evaluations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High reconciliation workload after exams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Limited institutional audit trail</a:t>
            </a:r>
            <a:endParaRPr/>
          </a:p>
        </p:txBody>
      </p:sp>
      <p:sp>
        <p:nvSpPr>
          <p:cNvPr id="603" name="Google Shape;603;p32"/>
          <p:cNvSpPr txBox="1"/>
          <p:nvPr/>
        </p:nvSpPr>
        <p:spPr>
          <a:xfrm>
            <a:off x="6400800" y="2606040"/>
            <a:ext cx="45262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Faster digital scanning and session-aware validation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Timestamped digital attendance records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Mandatory evaluation completion before card generation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Instant PDF report generation for office use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A2428"/>
                </a:solidFill>
                <a:latin typeface="Arial"/>
                <a:ea typeface="Arial"/>
                <a:cs typeface="Arial"/>
                <a:sym typeface="Arial"/>
              </a:rPr>
              <a:t>• Improved traceability and missing-marks prevention</a:t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3520450" y="5486400"/>
            <a:ext cx="5212200" cy="6036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 txBox="1"/>
          <p:nvPr/>
        </p:nvSpPr>
        <p:spPr>
          <a:xfrm>
            <a:off x="3657600" y="5623560"/>
            <a:ext cx="49377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Transforming examination administration from a paper burden to a digital asset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en_circuit_closing.png" id="610" name="Google Shape;6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33"/>
          <p:cNvSpPr/>
          <p:nvPr/>
        </p:nvSpPr>
        <p:spPr>
          <a:xfrm>
            <a:off x="841248" y="914400"/>
            <a:ext cx="1261872" cy="98755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hool_logo.jpeg" id="612" name="Google Shape;61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992" y="1060704"/>
            <a:ext cx="738378" cy="694944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3"/>
          <p:cNvSpPr txBox="1"/>
          <p:nvPr/>
        </p:nvSpPr>
        <p:spPr>
          <a:xfrm>
            <a:off x="868680" y="224028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868680" y="2633472"/>
            <a:ext cx="57150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EVAS unifies eligibility, secure exam cards, invigilator verification, and auditable reporting into one mobile ecosystem that can be piloted at SEKU and adapted across universities.</a:t>
            </a:r>
            <a:endParaRPr/>
          </a:p>
        </p:txBody>
      </p:sp>
      <p:sp>
        <p:nvSpPr>
          <p:cNvPr id="615" name="Google Shape;615;p33"/>
          <p:cNvSpPr/>
          <p:nvPr/>
        </p:nvSpPr>
        <p:spPr>
          <a:xfrm>
            <a:off x="868675" y="5257800"/>
            <a:ext cx="2743200" cy="589800"/>
          </a:xfrm>
          <a:prstGeom prst="roundRect">
            <a:avLst>
              <a:gd fmla="val 16667" name="adj"/>
            </a:avLst>
          </a:prstGeom>
          <a:solidFill>
            <a:srgbClr val="0071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 txBox="1"/>
          <p:nvPr/>
        </p:nvSpPr>
        <p:spPr>
          <a:xfrm>
            <a:off x="960125" y="5385846"/>
            <a:ext cx="256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• Questions and discussion</a:t>
            </a:r>
            <a:endParaRPr/>
          </a:p>
        </p:txBody>
      </p:sp>
      <p:sp>
        <p:nvSpPr>
          <p:cNvPr id="617" name="Google Shape;617;p33"/>
          <p:cNvSpPr/>
          <p:nvPr/>
        </p:nvSpPr>
        <p:spPr>
          <a:xfrm>
            <a:off x="7415784" y="1225296"/>
            <a:ext cx="3886200" cy="4846320"/>
          </a:xfrm>
          <a:prstGeom prst="roundRect">
            <a:avLst>
              <a:gd fmla="val 16667" name="adj"/>
            </a:avLst>
          </a:prstGeom>
          <a:solidFill>
            <a:srgbClr val="C9D8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7360920" y="1143000"/>
            <a:ext cx="3886200" cy="4846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E3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2-exam-card-pdf.png" id="619" name="Google Shape;61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05625" y="625075"/>
            <a:ext cx="4524376" cy="56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33"/>
          <p:cNvSpPr txBox="1"/>
          <p:nvPr/>
        </p:nvSpPr>
        <p:spPr>
          <a:xfrm>
            <a:off x="7360920" y="6025896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A787D"/>
                </a:solidFill>
                <a:latin typeface="Arial"/>
                <a:ea typeface="Arial"/>
                <a:cs typeface="Arial"/>
                <a:sym typeface="Arial"/>
              </a:rPr>
              <a:t>EVAS printable exam card</a:t>
            </a:r>
            <a:endParaRPr/>
          </a:p>
        </p:txBody>
      </p:sp>
      <p:sp>
        <p:nvSpPr>
          <p:cNvPr id="621" name="Google Shape;621;p33"/>
          <p:cNvSpPr txBox="1"/>
          <p:nvPr/>
        </p:nvSpPr>
        <p:spPr>
          <a:xfrm>
            <a:off x="11292840" y="64190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/>
          </a:p>
        </p:txBody>
      </p:sp>
      <p:sp>
        <p:nvSpPr>
          <p:cNvPr id="622" name="Google Shape;622;p33"/>
          <p:cNvSpPr txBox="1"/>
          <p:nvPr/>
        </p:nvSpPr>
        <p:spPr>
          <a:xfrm>
            <a:off x="749808" y="641908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SEKU Innovation Challenge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